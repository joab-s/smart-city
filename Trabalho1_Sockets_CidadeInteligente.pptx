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mover o slide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editar o formato de 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59C7BC0-BF2B-470C-BE9F-5612ED2C9843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Capa. Sistema distribuído que simula uma cidade inteligente: um Gateway central, fontes de dados (sensores) e um cliente analítico. Comunicação via TCP, UDP e multicast, com Protocol Buffers em todas as mensagens.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1A5667-CF4D-46C6-939C-966B4C6CC4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Três componentes: Cliente Analítico, Gateway central e fontes de dados. O cliente fala com o gateway por TCP. As fontes são descobertas por multicast, enviam dados por UDP e recebem comandos por TCP. Uma das fontes é escrita em Node.js (pontuação extra).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CF45E6-A5AF-4910-AD48-C4AC28A745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Os três transportes pedidos: TCP para controle, UDP para dados, multicast para descoberta. Protocol Buffers serializa todas as mensagens, com um único .proto compartilhado. Sobre TCP usamos framing por prefixo de tamanho, porque TCP é um fluxo sem fronteiras de mensagem.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CDEACD-8AB8-4E66-9E9A-3A03F80D2C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Fluxo de descoberta em três passos. O ponto importante é a reemissão periódica do DiscoveryRequest: não importa se a fonte sobe antes ou depois do gateway — ela é descoberta no próximo ciclo.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BF7F30-0C5D-46AF-AB6B-3AC8FE1E15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Este é o foco pedido pelo enunciado: o formato das mensagens. À esquerda, duas mensagens centrais — SensorData (com Timestamp e lista de Reading) e UdpEnvelope, que usa oneof para receber anúncios e dados na mesma porta UDP. À direita, os pares de mensagens por tipo de interação.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C9D8FE-1A86-40A1-8AB8-AFB596C69A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Cinco fontes, cada uma um processo separado. Controláveis aceitam comandos: mudar frequência, ajustar limiar, ativar/desativar e simular falha. Ao cruzar o limiar, a fonte envia uma leitura imediata marcada como alerta. O medidor de energia é o componente em Node.js.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901DC2-AA6B-425B-9E5D-D46EF52412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 cliente é um processo separado, conecta por TCP. À esquerda os comandos de controle; à direita as consultas analíticas agregadas, incluindo exatamente os três exemplos do enunciado: média de temperatura da última hora, desvio padrão de CO2 em 24h e fonte com maior variação.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DB88C7-C682-4B22-96DD-E73D2FF529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Os três itens de pontuação extra foram todos implementados: segunda linguagem em Node.js, persistência em SQLite com consulta de histórico, e dashboard web com séries temporais.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33701D-A433-412E-ACFA-9B5D8C0FA44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Resumo da stack e dos comandos de execução. Python na maior parte; Node.js na fonte de energia. Protocol Buffers com protobuf e protobufjs sobre o mesmo .proto. Persistência em SQLite e dashboard em Chart.js.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DFEA48-C835-491A-B7D5-0C21930616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editar o formato do texto do título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1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9784080" y="-1463040"/>
            <a:ext cx="4205880" cy="4205880"/>
          </a:xfrm>
          <a:prstGeom prst="ellipse">
            <a:avLst/>
          </a:prstGeom>
          <a:solidFill>
            <a:srgbClr val="c2683f">
              <a:alpha val="14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607040" y="4297680"/>
            <a:ext cx="3108600" cy="3108600"/>
          </a:xfrm>
          <a:prstGeom prst="ellipse">
            <a:avLst/>
          </a:prstGeom>
          <a:solidFill>
            <a:srgbClr val="8fa697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822960" y="777240"/>
            <a:ext cx="868320" cy="868320"/>
          </a:xfrm>
          <a:prstGeom prst="rect">
            <a:avLst/>
          </a:prstGeom>
          <a:ln w="0">
            <a:noFill/>
          </a:ln>
        </p:spPr>
      </p:pic>
      <p:sp>
        <p:nvSpPr>
          <p:cNvPr id="11" name="Text 2"/>
          <p:cNvSpPr/>
          <p:nvPr/>
        </p:nvSpPr>
        <p:spPr>
          <a:xfrm>
            <a:off x="868680" y="1828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dda15e"/>
                </a:solidFill>
                <a:latin typeface="Calibri"/>
                <a:ea typeface="Calibri"/>
              </a:rPr>
              <a:t>DISTRIBUIÇÃO DE PROCESSOS E DADOS · UFC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22960" y="210312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f4ede3"/>
                </a:solidFill>
                <a:latin typeface="Cambria"/>
                <a:ea typeface="Cambria"/>
              </a:rPr>
              <a:t>Cidade Inteligente</a:t>
            </a:r>
            <a:endParaRPr b="0" lang="pt-BR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868680" y="3246120"/>
            <a:ext cx="9600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c9bbae"/>
                </a:solidFill>
                <a:latin typeface="Calibri"/>
                <a:ea typeface="Calibri"/>
              </a:rPr>
              <a:t>Sistema distribuído de coleta e análise de dados com sockets,</a:t>
            </a:r>
            <a:endParaRPr b="0" lang="pt-BR" sz="1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c9bbae"/>
                </a:solidFill>
                <a:latin typeface="Calibri"/>
                <a:ea typeface="Calibri"/>
              </a:rPr>
              <a:t>Protocol Buffers e descoberta por multicast</a:t>
            </a:r>
            <a:endParaRPr b="0" lang="pt-BR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868680" y="4572000"/>
            <a:ext cx="2102760" cy="868320"/>
          </a:xfrm>
          <a:prstGeom prst="roundRect">
            <a:avLst>
              <a:gd name="adj" fmla="val 10526"/>
            </a:avLst>
          </a:prstGeom>
          <a:solidFill>
            <a:srgbClr val="2e241d"/>
          </a:solidFill>
          <a:ln w="12700">
            <a:solidFill>
              <a:srgbClr val="c268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868680" y="457200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ede3"/>
                </a:solidFill>
                <a:latin typeface="Calibri"/>
                <a:ea typeface="Calibri"/>
              </a:rPr>
              <a:t>TCP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da15e"/>
                </a:solidFill>
                <a:latin typeface="Calibri"/>
                <a:ea typeface="Calibri"/>
              </a:rPr>
              <a:t>controle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7"/>
          <p:cNvSpPr/>
          <p:nvPr/>
        </p:nvSpPr>
        <p:spPr>
          <a:xfrm>
            <a:off x="3200400" y="4572000"/>
            <a:ext cx="2102760" cy="868320"/>
          </a:xfrm>
          <a:prstGeom prst="roundRect">
            <a:avLst>
              <a:gd name="adj" fmla="val 10526"/>
            </a:avLst>
          </a:prstGeom>
          <a:solidFill>
            <a:srgbClr val="2e241d"/>
          </a:solidFill>
          <a:ln w="12700">
            <a:solidFill>
              <a:srgbClr val="c268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3200400" y="457200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ede3"/>
                </a:solidFill>
                <a:latin typeface="Calibri"/>
                <a:ea typeface="Calibri"/>
              </a:rPr>
              <a:t>UDP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da15e"/>
                </a:solidFill>
                <a:latin typeface="Calibri"/>
                <a:ea typeface="Calibri"/>
              </a:rPr>
              <a:t>dados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5532120" y="4572000"/>
            <a:ext cx="2102760" cy="868320"/>
          </a:xfrm>
          <a:prstGeom prst="roundRect">
            <a:avLst>
              <a:gd name="adj" fmla="val 10526"/>
            </a:avLst>
          </a:prstGeom>
          <a:solidFill>
            <a:srgbClr val="2e241d"/>
          </a:solidFill>
          <a:ln w="12700">
            <a:solidFill>
              <a:srgbClr val="c268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5532120" y="4572000"/>
            <a:ext cx="2102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4ede3"/>
                </a:solidFill>
                <a:latin typeface="Calibri"/>
                <a:ea typeface="Calibri"/>
              </a:rPr>
              <a:t>Multicast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da15e"/>
                </a:solidFill>
                <a:latin typeface="Calibri"/>
                <a:ea typeface="Calibri"/>
              </a:rPr>
              <a:t>descoberta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822960" y="5910480"/>
            <a:ext cx="1042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a7b6e"/>
                </a:solidFill>
                <a:latin typeface="Calibri"/>
                <a:ea typeface="Calibri"/>
              </a:rPr>
              <a:t>Trabalho 1: Sockets   ·   Prof. Dr. Paulo A. L. Rego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a7b6e"/>
                </a:solidFill>
                <a:latin typeface="Calibri"/>
                <a:ea typeface="Calibri"/>
              </a:rPr>
              <a:t>Por: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a7b6e"/>
                </a:solidFill>
                <a:latin typeface="Calibri"/>
                <a:ea typeface="Calibri"/>
              </a:rPr>
              <a:t> </a:t>
            </a:r>
            <a:r>
              <a:rPr b="0" lang="en-US" sz="1300" spc="-1" strike="noStrike">
                <a:solidFill>
                  <a:srgbClr val="8a7b6e"/>
                </a:solidFill>
                <a:latin typeface="Calibri"/>
                <a:ea typeface="Calibri"/>
              </a:rPr>
              <a:t>- Joab da Silva Rocha - 495920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640080" y="457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9e4f2e"/>
                </a:solidFill>
                <a:latin typeface="Calibri"/>
                <a:ea typeface="Calibri"/>
              </a:rPr>
              <a:t>VISÃO GERAL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3a2e26"/>
                </a:solidFill>
                <a:latin typeface="Cambria"/>
                <a:ea typeface="Cambria"/>
              </a:rPr>
              <a:t>Arquitetura em três partes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4572000" y="1554480"/>
            <a:ext cx="3017160" cy="914040"/>
          </a:xfrm>
          <a:prstGeom prst="roundRect">
            <a:avLst>
              <a:gd name="adj" fmla="val 9000"/>
            </a:avLst>
          </a:prstGeom>
          <a:solidFill>
            <a:srgbClr val="fbf7f0"/>
          </a:solidFill>
          <a:ln w="15875">
            <a:solidFill>
              <a:srgbClr val="8fa697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4800600" y="17557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25" name="Text 3"/>
          <p:cNvSpPr/>
          <p:nvPr/>
        </p:nvSpPr>
        <p:spPr>
          <a:xfrm>
            <a:off x="5394960" y="155448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1600" spc="-1" strike="noStrike">
                <a:solidFill>
                  <a:srgbClr val="3a2e26"/>
                </a:solidFill>
                <a:latin typeface="Calibri"/>
                <a:ea typeface="Calibri"/>
              </a:rPr>
              <a:t>Cliente Analítico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a7b6e"/>
                </a:solidFill>
                <a:latin typeface="Calibri"/>
                <a:ea typeface="Calibri"/>
              </a:rPr>
              <a:t>CLI + dashboard web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6080760" y="2468880"/>
            <a:ext cx="360" cy="685800"/>
          </a:xfrm>
          <a:prstGeom prst="line">
            <a:avLst/>
          </a:prstGeom>
          <a:ln w="31750">
            <a:solidFill>
              <a:srgbClr val="c2683f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6217920" y="26060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e4f2e"/>
                </a:solidFill>
                <a:latin typeface="Calibri"/>
                <a:ea typeface="Calibri"/>
              </a:rPr>
              <a:t>TCP · Protobuf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4023360" y="3154680"/>
            <a:ext cx="4114440" cy="1051200"/>
          </a:xfrm>
          <a:prstGeom prst="roundRect">
            <a:avLst>
              <a:gd name="adj" fmla="val 7826"/>
            </a:avLst>
          </a:prstGeom>
          <a:solidFill>
            <a:srgbClr val="2e241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" name="Image 1" descr="preencoded.png"/>
          <p:cNvPicPr/>
          <p:nvPr/>
        </p:nvPicPr>
        <p:blipFill>
          <a:blip r:embed="rId2"/>
          <a:stretch/>
        </p:blipFill>
        <p:spPr>
          <a:xfrm>
            <a:off x="4297680" y="34016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0" name="Text 7"/>
          <p:cNvSpPr/>
          <p:nvPr/>
        </p:nvSpPr>
        <p:spPr>
          <a:xfrm>
            <a:off x="4937760" y="3154680"/>
            <a:ext cx="30171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1700" spc="-1" strike="noStrike">
                <a:solidFill>
                  <a:srgbClr val="f4ede3"/>
                </a:solidFill>
                <a:latin typeface="Calibri"/>
                <a:ea typeface="Calibri"/>
              </a:rPr>
              <a:t>Gateway Inteligente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c9bbae"/>
                </a:solidFill>
                <a:latin typeface="Calibri"/>
                <a:ea typeface="Calibri"/>
              </a:rPr>
              <a:t>descoberta · coleta · controle · persistência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640080" y="5074920"/>
            <a:ext cx="2057040" cy="1188360"/>
          </a:xfrm>
          <a:prstGeom prst="roundRect">
            <a:avLst>
              <a:gd name="adj" fmla="val 6923"/>
            </a:avLst>
          </a:prstGeom>
          <a:solidFill>
            <a:srgbClr val="fbf7f0"/>
          </a:solidFill>
          <a:ln w="15875">
            <a:solidFill>
              <a:srgbClr val="8fa697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Image 2" descr="preencoded.png"/>
          <p:cNvPicPr/>
          <p:nvPr/>
        </p:nvPicPr>
        <p:blipFill>
          <a:blip r:embed="rId3"/>
          <a:stretch/>
        </p:blipFill>
        <p:spPr>
          <a:xfrm>
            <a:off x="1412640" y="5221080"/>
            <a:ext cx="511560" cy="511560"/>
          </a:xfrm>
          <a:prstGeom prst="rect">
            <a:avLst/>
          </a:prstGeom>
          <a:ln w="0">
            <a:noFill/>
          </a:ln>
        </p:spPr>
      </p:pic>
      <p:sp>
        <p:nvSpPr>
          <p:cNvPr id="33" name="Text 9"/>
          <p:cNvSpPr/>
          <p:nvPr/>
        </p:nvSpPr>
        <p:spPr>
          <a:xfrm>
            <a:off x="640080" y="575172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a2e26"/>
                </a:solidFill>
                <a:latin typeface="Calibri"/>
                <a:ea typeface="Calibri"/>
              </a:rPr>
              <a:t>Estação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a2e26"/>
                </a:solidFill>
                <a:latin typeface="Calibri"/>
                <a:ea typeface="Calibri"/>
              </a:rPr>
              <a:t>meteorológica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2862000" y="5074920"/>
            <a:ext cx="2057040" cy="1188360"/>
          </a:xfrm>
          <a:prstGeom prst="roundRect">
            <a:avLst>
              <a:gd name="adj" fmla="val 6923"/>
            </a:avLst>
          </a:prstGeom>
          <a:solidFill>
            <a:srgbClr val="fbf7f0"/>
          </a:solidFill>
          <a:ln w="15875">
            <a:solidFill>
              <a:srgbClr val="8fa697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Image 3" descr="preencoded.png"/>
          <p:cNvPicPr/>
          <p:nvPr/>
        </p:nvPicPr>
        <p:blipFill>
          <a:blip r:embed="rId4"/>
          <a:stretch/>
        </p:blipFill>
        <p:spPr>
          <a:xfrm>
            <a:off x="3634920" y="5221080"/>
            <a:ext cx="511560" cy="511560"/>
          </a:xfrm>
          <a:prstGeom prst="rect">
            <a:avLst/>
          </a:prstGeom>
          <a:ln w="0">
            <a:noFill/>
          </a:ln>
        </p:spPr>
      </p:pic>
      <p:sp>
        <p:nvSpPr>
          <p:cNvPr id="36" name="Text 11"/>
          <p:cNvSpPr/>
          <p:nvPr/>
        </p:nvSpPr>
        <p:spPr>
          <a:xfrm>
            <a:off x="2862000" y="575172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a2e26"/>
                </a:solidFill>
                <a:latin typeface="Calibri"/>
                <a:ea typeface="Calibri"/>
              </a:rPr>
              <a:t>Qualidade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a2e26"/>
                </a:solidFill>
                <a:latin typeface="Calibri"/>
                <a:ea typeface="Calibri"/>
              </a:rPr>
              <a:t>do ar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5083920" y="5074920"/>
            <a:ext cx="2057040" cy="1188360"/>
          </a:xfrm>
          <a:prstGeom prst="roundRect">
            <a:avLst>
              <a:gd name="adj" fmla="val 6923"/>
            </a:avLst>
          </a:prstGeom>
          <a:solidFill>
            <a:srgbClr val="fbf7f0"/>
          </a:solidFill>
          <a:ln w="15875">
            <a:solidFill>
              <a:srgbClr val="8fa697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Image 4" descr="preencoded.png"/>
          <p:cNvPicPr/>
          <p:nvPr/>
        </p:nvPicPr>
        <p:blipFill>
          <a:blip r:embed="rId5"/>
          <a:stretch/>
        </p:blipFill>
        <p:spPr>
          <a:xfrm>
            <a:off x="5856840" y="5221080"/>
            <a:ext cx="511560" cy="511560"/>
          </a:xfrm>
          <a:prstGeom prst="rect">
            <a:avLst/>
          </a:prstGeom>
          <a:ln w="0">
            <a:noFill/>
          </a:ln>
        </p:spPr>
      </p:pic>
      <p:sp>
        <p:nvSpPr>
          <p:cNvPr id="39" name="Text 13"/>
          <p:cNvSpPr/>
          <p:nvPr/>
        </p:nvSpPr>
        <p:spPr>
          <a:xfrm>
            <a:off x="5083920" y="575172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a2e26"/>
                </a:solidFill>
                <a:latin typeface="Calibri"/>
                <a:ea typeface="Calibri"/>
              </a:rPr>
              <a:t>Contador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a2e26"/>
                </a:solidFill>
                <a:latin typeface="Calibri"/>
                <a:ea typeface="Calibri"/>
              </a:rPr>
              <a:t>de tráfego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7306200" y="5074920"/>
            <a:ext cx="2057040" cy="1188360"/>
          </a:xfrm>
          <a:prstGeom prst="roundRect">
            <a:avLst>
              <a:gd name="adj" fmla="val 6923"/>
            </a:avLst>
          </a:prstGeom>
          <a:solidFill>
            <a:srgbClr val="fbf7f0"/>
          </a:solidFill>
          <a:ln w="15875">
            <a:solidFill>
              <a:srgbClr val="8a7b6e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Image 5" descr="preencoded.png"/>
          <p:cNvPicPr/>
          <p:nvPr/>
        </p:nvPicPr>
        <p:blipFill>
          <a:blip r:embed="rId6"/>
          <a:stretch/>
        </p:blipFill>
        <p:spPr>
          <a:xfrm>
            <a:off x="8078760" y="5221080"/>
            <a:ext cx="511560" cy="511560"/>
          </a:xfrm>
          <a:prstGeom prst="rect">
            <a:avLst/>
          </a:prstGeom>
          <a:ln w="0">
            <a:noFill/>
          </a:ln>
        </p:spPr>
      </p:pic>
      <p:sp>
        <p:nvSpPr>
          <p:cNvPr id="42" name="Text 15"/>
          <p:cNvSpPr/>
          <p:nvPr/>
        </p:nvSpPr>
        <p:spPr>
          <a:xfrm>
            <a:off x="7306200" y="575172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a2e26"/>
                </a:solidFill>
                <a:latin typeface="Calibri"/>
                <a:ea typeface="Calibri"/>
              </a:rPr>
              <a:t>Sensor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a2e26"/>
                </a:solidFill>
                <a:latin typeface="Calibri"/>
                <a:ea typeface="Calibri"/>
              </a:rPr>
              <a:t>de ruído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6"/>
          <p:cNvSpPr/>
          <p:nvPr/>
        </p:nvSpPr>
        <p:spPr>
          <a:xfrm>
            <a:off x="9528120" y="5074920"/>
            <a:ext cx="2057040" cy="1188360"/>
          </a:xfrm>
          <a:prstGeom prst="roundRect">
            <a:avLst>
              <a:gd name="adj" fmla="val 6923"/>
            </a:avLst>
          </a:prstGeom>
          <a:solidFill>
            <a:srgbClr val="fbf7f0"/>
          </a:solidFill>
          <a:ln w="15875">
            <a:solidFill>
              <a:srgbClr val="c2683f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Image 6" descr="preencoded.png"/>
          <p:cNvPicPr/>
          <p:nvPr/>
        </p:nvPicPr>
        <p:blipFill>
          <a:blip r:embed="rId7"/>
          <a:stretch/>
        </p:blipFill>
        <p:spPr>
          <a:xfrm>
            <a:off x="10300680" y="5221080"/>
            <a:ext cx="511560" cy="511560"/>
          </a:xfrm>
          <a:prstGeom prst="rect">
            <a:avLst/>
          </a:prstGeom>
          <a:ln w="0">
            <a:noFill/>
          </a:ln>
        </p:spPr>
      </p:pic>
      <p:sp>
        <p:nvSpPr>
          <p:cNvPr id="45" name="Text 17"/>
          <p:cNvSpPr/>
          <p:nvPr/>
        </p:nvSpPr>
        <p:spPr>
          <a:xfrm>
            <a:off x="9528120" y="575172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a2e26"/>
                </a:solidFill>
                <a:latin typeface="Calibri"/>
                <a:ea typeface="Calibri"/>
              </a:rPr>
              <a:t>Medidor energia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3a2e26"/>
                </a:solidFill>
                <a:latin typeface="Calibri"/>
                <a:ea typeface="Calibri"/>
              </a:rPr>
              <a:t>(Node.js)</a:t>
            </a:r>
            <a:endParaRPr b="0" lang="pt-B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8"/>
          <p:cNvSpPr/>
          <p:nvPr/>
        </p:nvSpPr>
        <p:spPr>
          <a:xfrm flipH="1">
            <a:off x="2606040" y="4206240"/>
            <a:ext cx="3474720" cy="777240"/>
          </a:xfrm>
          <a:prstGeom prst="line">
            <a:avLst/>
          </a:prstGeom>
          <a:ln w="25400">
            <a:solidFill>
              <a:srgbClr val="8fa69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9"/>
          <p:cNvSpPr/>
          <p:nvPr/>
        </p:nvSpPr>
        <p:spPr>
          <a:xfrm>
            <a:off x="6080760" y="4206240"/>
            <a:ext cx="3931920" cy="777240"/>
          </a:xfrm>
          <a:prstGeom prst="line">
            <a:avLst/>
          </a:prstGeom>
          <a:ln w="25400">
            <a:solidFill>
              <a:srgbClr val="8fa69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0"/>
          <p:cNvSpPr/>
          <p:nvPr/>
        </p:nvSpPr>
        <p:spPr>
          <a:xfrm>
            <a:off x="640080" y="452628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9e4f2e"/>
                </a:solidFill>
                <a:latin typeface="Calibri"/>
                <a:ea typeface="Calibri"/>
              </a:rPr>
              <a:t>UDP (dados)  ·  Multicast (descoberta)  ·  TCP (comandos)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640080" y="457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9e4f2e"/>
                </a:solidFill>
                <a:latin typeface="Calibri"/>
                <a:ea typeface="Calibri"/>
              </a:rPr>
              <a:t>REQUISITO 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3a2e26"/>
                </a:solidFill>
                <a:latin typeface="Cambria"/>
                <a:ea typeface="Cambria"/>
              </a:rPr>
              <a:t>Comunicação e serialização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640080" y="1600200"/>
            <a:ext cx="3474360" cy="2331360"/>
          </a:xfrm>
          <a:prstGeom prst="roundRect">
            <a:avLst>
              <a:gd name="adj" fmla="val 3922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914400" y="1874520"/>
            <a:ext cx="822600" cy="822600"/>
          </a:xfrm>
          <a:prstGeom prst="ellipse">
            <a:avLst/>
          </a:prstGeom>
          <a:solidFill>
            <a:srgbClr val="c26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3" name="Image 0" descr="preencoded.png"/>
          <p:cNvPicPr/>
          <p:nvPr/>
        </p:nvPicPr>
        <p:blipFill>
          <a:blip r:embed="rId1"/>
          <a:stretch/>
        </p:blipFill>
        <p:spPr>
          <a:xfrm>
            <a:off x="1078920" y="2039040"/>
            <a:ext cx="493560" cy="493560"/>
          </a:xfrm>
          <a:prstGeom prst="rect">
            <a:avLst/>
          </a:prstGeom>
          <a:ln w="0">
            <a:noFill/>
          </a:ln>
        </p:spPr>
      </p:pic>
      <p:sp>
        <p:nvSpPr>
          <p:cNvPr id="54" name="Text 4"/>
          <p:cNvSpPr/>
          <p:nvPr/>
        </p:nvSpPr>
        <p:spPr>
          <a:xfrm>
            <a:off x="1874520" y="187452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3a2e26"/>
                </a:solidFill>
                <a:latin typeface="Cambria"/>
                <a:ea typeface="Cambria"/>
              </a:rPr>
              <a:t>TCP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1874520" y="23317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2683f"/>
                </a:solidFill>
                <a:latin typeface="Calibri"/>
                <a:ea typeface="Calibri"/>
              </a:rPr>
              <a:t>Controle confiável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914400" y="288036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a2e26"/>
                </a:solidFill>
                <a:latin typeface="Calibri"/>
                <a:ea typeface="Calibri"/>
              </a:rPr>
              <a:t>Cliente ↔ Gateway e Gateway → Fonte (comandos). Framing por prefixo de tamanho (4 bytes).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7"/>
          <p:cNvSpPr/>
          <p:nvPr/>
        </p:nvSpPr>
        <p:spPr>
          <a:xfrm>
            <a:off x="4389120" y="1600200"/>
            <a:ext cx="3474360" cy="2331360"/>
          </a:xfrm>
          <a:prstGeom prst="roundRect">
            <a:avLst>
              <a:gd name="adj" fmla="val 3922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4663440" y="1874520"/>
            <a:ext cx="822600" cy="822600"/>
          </a:xfrm>
          <a:prstGeom prst="ellipse">
            <a:avLst/>
          </a:prstGeom>
          <a:solidFill>
            <a:srgbClr val="8fa6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Image 1" descr="preencoded.png"/>
          <p:cNvPicPr/>
          <p:nvPr/>
        </p:nvPicPr>
        <p:blipFill>
          <a:blip r:embed="rId2"/>
          <a:stretch/>
        </p:blipFill>
        <p:spPr>
          <a:xfrm>
            <a:off x="4827960" y="2039040"/>
            <a:ext cx="493560" cy="493560"/>
          </a:xfrm>
          <a:prstGeom prst="rect">
            <a:avLst/>
          </a:prstGeom>
          <a:ln w="0">
            <a:noFill/>
          </a:ln>
        </p:spPr>
      </p:pic>
      <p:sp>
        <p:nvSpPr>
          <p:cNvPr id="60" name="Text 9"/>
          <p:cNvSpPr/>
          <p:nvPr/>
        </p:nvSpPr>
        <p:spPr>
          <a:xfrm>
            <a:off x="5623560" y="187452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3a2e26"/>
                </a:solidFill>
                <a:latin typeface="Cambria"/>
                <a:ea typeface="Cambria"/>
              </a:rPr>
              <a:t>UDP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5623560" y="23317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fa697"/>
                </a:solidFill>
                <a:latin typeface="Calibri"/>
                <a:ea typeface="Calibri"/>
              </a:rPr>
              <a:t>Fluxo de dados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4663440" y="288036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a2e26"/>
                </a:solidFill>
                <a:latin typeface="Calibri"/>
                <a:ea typeface="Calibri"/>
              </a:rPr>
              <a:t>Leituras das fontes para o Gateway. Cada datagrama é uma mensagem completa.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8138160" y="1600200"/>
            <a:ext cx="3474360" cy="2331360"/>
          </a:xfrm>
          <a:prstGeom prst="roundRect">
            <a:avLst>
              <a:gd name="adj" fmla="val 3922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8412480" y="1874520"/>
            <a:ext cx="822600" cy="822600"/>
          </a:xfrm>
          <a:prstGeom prst="ellipse">
            <a:avLst/>
          </a:prstGeom>
          <a:solidFill>
            <a:srgbClr val="dda1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Image 2" descr="preencoded.png"/>
          <p:cNvPicPr/>
          <p:nvPr/>
        </p:nvPicPr>
        <p:blipFill>
          <a:blip r:embed="rId3"/>
          <a:stretch/>
        </p:blipFill>
        <p:spPr>
          <a:xfrm>
            <a:off x="8577000" y="2039040"/>
            <a:ext cx="493560" cy="493560"/>
          </a:xfrm>
          <a:prstGeom prst="rect">
            <a:avLst/>
          </a:prstGeom>
          <a:ln w="0">
            <a:noFill/>
          </a:ln>
        </p:spPr>
      </p:pic>
      <p:sp>
        <p:nvSpPr>
          <p:cNvPr id="66" name="Text 14"/>
          <p:cNvSpPr/>
          <p:nvPr/>
        </p:nvSpPr>
        <p:spPr>
          <a:xfrm>
            <a:off x="9372600" y="1874520"/>
            <a:ext cx="2102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3a2e26"/>
                </a:solidFill>
                <a:latin typeface="Cambria"/>
                <a:ea typeface="Cambria"/>
              </a:rPr>
              <a:t>Multicast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9372600" y="23317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da15e"/>
                </a:solidFill>
                <a:latin typeface="Calibri"/>
                <a:ea typeface="Calibri"/>
              </a:rPr>
              <a:t>Descoberta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8412480" y="2880360"/>
            <a:ext cx="2925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a2e26"/>
                </a:solidFill>
                <a:latin typeface="Calibri"/>
                <a:ea typeface="Calibri"/>
              </a:rPr>
              <a:t>Grupo 228.0.0.8:6789. O Gateway pergunta; as fontes se anunciam.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7"/>
          <p:cNvSpPr/>
          <p:nvPr/>
        </p:nvSpPr>
        <p:spPr>
          <a:xfrm>
            <a:off x="640080" y="4206240"/>
            <a:ext cx="10881000" cy="1371240"/>
          </a:xfrm>
          <a:prstGeom prst="roundRect">
            <a:avLst>
              <a:gd name="adj" fmla="val 6667"/>
            </a:avLst>
          </a:prstGeom>
          <a:solidFill>
            <a:srgbClr val="2e241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8"/>
          <p:cNvSpPr/>
          <p:nvPr/>
        </p:nvSpPr>
        <p:spPr>
          <a:xfrm>
            <a:off x="960120" y="4526280"/>
            <a:ext cx="731160" cy="731160"/>
          </a:xfrm>
          <a:prstGeom prst="ellipse">
            <a:avLst/>
          </a:prstGeom>
          <a:solidFill>
            <a:srgbClr val="c26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Image 3" descr="preencoded.png"/>
          <p:cNvPicPr/>
          <p:nvPr/>
        </p:nvPicPr>
        <p:blipFill>
          <a:blip r:embed="rId4"/>
          <a:stretch/>
        </p:blipFill>
        <p:spPr>
          <a:xfrm>
            <a:off x="1097280" y="466344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72" name="Text 19"/>
          <p:cNvSpPr/>
          <p:nvPr/>
        </p:nvSpPr>
        <p:spPr>
          <a:xfrm>
            <a:off x="1920240" y="4370760"/>
            <a:ext cx="9143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4ede3"/>
                </a:solidFill>
                <a:latin typeface="Cambria"/>
                <a:ea typeface="Cambria"/>
              </a:rPr>
              <a:t>Protocol Buffers em todas as mensagens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0"/>
          <p:cNvSpPr/>
          <p:nvPr/>
        </p:nvSpPr>
        <p:spPr>
          <a:xfrm>
            <a:off x="1920240" y="4800600"/>
            <a:ext cx="9326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9bbae"/>
                </a:solidFill>
                <a:latin typeface="Calibri"/>
                <a:ea typeface="Calibri"/>
              </a:rPr>
              <a:t>Um único contrato — smartcity.proto — é compartilhado por Gateway, fontes e cliente. Serialização binária compacta e tipada, com google.protobuf.Timestamp nas leituras.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640080" y="457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9e4f2e"/>
                </a:solidFill>
                <a:latin typeface="Calibri"/>
                <a:ea typeface="Calibri"/>
              </a:rPr>
              <a:t>REQUISITO 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3a2e26"/>
                </a:solidFill>
                <a:latin typeface="Cambria"/>
                <a:ea typeface="Cambria"/>
              </a:rPr>
              <a:t>Descoberta de fontes por multicast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640080" y="1691640"/>
            <a:ext cx="10881000" cy="1234080"/>
          </a:xfrm>
          <a:prstGeom prst="roundRect">
            <a:avLst>
              <a:gd name="adj" fmla="val 6667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3"/>
          <p:cNvSpPr/>
          <p:nvPr/>
        </p:nvSpPr>
        <p:spPr>
          <a:xfrm>
            <a:off x="914400" y="1938600"/>
            <a:ext cx="749520" cy="749520"/>
          </a:xfrm>
          <a:prstGeom prst="ellipse">
            <a:avLst/>
          </a:prstGeom>
          <a:solidFill>
            <a:srgbClr val="c26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8" name="Image 0" descr="preencoded.png"/>
          <p:cNvPicPr/>
          <p:nvPr/>
        </p:nvPicPr>
        <p:blipFill>
          <a:blip r:embed="rId1"/>
          <a:stretch/>
        </p:blipFill>
        <p:spPr>
          <a:xfrm>
            <a:off x="1069920" y="209412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79" name="Text 4"/>
          <p:cNvSpPr/>
          <p:nvPr/>
        </p:nvSpPr>
        <p:spPr>
          <a:xfrm>
            <a:off x="1920240" y="1874520"/>
            <a:ext cx="9143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a2e26"/>
                </a:solidFill>
                <a:latin typeface="Cambria"/>
                <a:ea typeface="Cambria"/>
              </a:rPr>
              <a:t>1 · Gateway pergunta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1920240" y="229500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a2e26"/>
                </a:solidFill>
                <a:latin typeface="Calibri"/>
                <a:ea typeface="Calibri"/>
              </a:rPr>
              <a:t>Ao iniciar (e periodicamente, a cada 8 s), envia DiscoveryRequest ao grupo multicast com seu IP e portas.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640080" y="3108960"/>
            <a:ext cx="10881000" cy="1234080"/>
          </a:xfrm>
          <a:prstGeom prst="roundRect">
            <a:avLst>
              <a:gd name="adj" fmla="val 6667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7"/>
          <p:cNvSpPr/>
          <p:nvPr/>
        </p:nvSpPr>
        <p:spPr>
          <a:xfrm>
            <a:off x="914400" y="3355920"/>
            <a:ext cx="749520" cy="749520"/>
          </a:xfrm>
          <a:prstGeom prst="ellipse">
            <a:avLst/>
          </a:prstGeom>
          <a:solidFill>
            <a:srgbClr val="c26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Image 1" descr="preencoded.png"/>
          <p:cNvPicPr/>
          <p:nvPr/>
        </p:nvPicPr>
        <p:blipFill>
          <a:blip r:embed="rId2"/>
          <a:stretch/>
        </p:blipFill>
        <p:spPr>
          <a:xfrm>
            <a:off x="1069920" y="351144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84" name="Text 8"/>
          <p:cNvSpPr/>
          <p:nvPr/>
        </p:nvSpPr>
        <p:spPr>
          <a:xfrm>
            <a:off x="1920240" y="3291840"/>
            <a:ext cx="9143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a2e26"/>
                </a:solidFill>
                <a:latin typeface="Cambria"/>
                <a:ea typeface="Cambria"/>
              </a:rPr>
              <a:t>2 · Fonte responde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1920240" y="371232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a2e26"/>
                </a:solidFill>
                <a:latin typeface="Calibri"/>
                <a:ea typeface="Calibri"/>
              </a:rPr>
              <a:t>Cada fonte escuta o grupo e responde por UDP unicast com SourceAnnounce: tipo, IP, porta de controle e estado inicial.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0"/>
          <p:cNvSpPr/>
          <p:nvPr/>
        </p:nvSpPr>
        <p:spPr>
          <a:xfrm>
            <a:off x="640080" y="4526280"/>
            <a:ext cx="10881000" cy="1234080"/>
          </a:xfrm>
          <a:prstGeom prst="roundRect">
            <a:avLst>
              <a:gd name="adj" fmla="val 6667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914400" y="4773240"/>
            <a:ext cx="749520" cy="749520"/>
          </a:xfrm>
          <a:prstGeom prst="ellipse">
            <a:avLst/>
          </a:prstGeom>
          <a:solidFill>
            <a:srgbClr val="dda1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2" descr="preencoded.png"/>
          <p:cNvPicPr/>
          <p:nvPr/>
        </p:nvPicPr>
        <p:blipFill>
          <a:blip r:embed="rId3"/>
          <a:stretch/>
        </p:blipFill>
        <p:spPr>
          <a:xfrm>
            <a:off x="1069920" y="4928760"/>
            <a:ext cx="438480" cy="438480"/>
          </a:xfrm>
          <a:prstGeom prst="rect">
            <a:avLst/>
          </a:prstGeom>
          <a:ln w="0">
            <a:noFill/>
          </a:ln>
        </p:spPr>
      </p:pic>
      <p:sp>
        <p:nvSpPr>
          <p:cNvPr id="89" name="Text 12"/>
          <p:cNvSpPr/>
          <p:nvPr/>
        </p:nvSpPr>
        <p:spPr>
          <a:xfrm>
            <a:off x="1920240" y="4709160"/>
            <a:ext cx="9143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a2e26"/>
                </a:solidFill>
                <a:latin typeface="Cambria"/>
                <a:ea typeface="Cambria"/>
              </a:rPr>
              <a:t>3 · Gateway registra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1920240" y="512964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a2e26"/>
                </a:solidFill>
                <a:latin typeface="Calibri"/>
                <a:ea typeface="Calibri"/>
              </a:rPr>
              <a:t>Passa a receber os dados via UDP e pode enviar comandos via TCP. Reemissão periódica torna o sistema imune à ordem de inicialização.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640080" y="457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dda15e"/>
                </a:solidFill>
                <a:latin typeface="Calibri"/>
                <a:ea typeface="Calibri"/>
              </a:rPr>
              <a:t>FOCO DA APRESENTAÇÃO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4ede3"/>
                </a:solidFill>
                <a:latin typeface="Cambria"/>
                <a:ea typeface="Cambria"/>
              </a:rPr>
              <a:t>Formato das mensagens (.proto)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640080" y="1600200"/>
            <a:ext cx="5943240" cy="4480200"/>
          </a:xfrm>
          <a:prstGeom prst="roundRect">
            <a:avLst>
              <a:gd name="adj" fmla="val 1633"/>
            </a:avLst>
          </a:prstGeom>
          <a:solidFill>
            <a:srgbClr val="17120f"/>
          </a:solidFill>
          <a:ln w="12700">
            <a:solidFill>
              <a:srgbClr val="9e4f2e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914400" y="1828800"/>
            <a:ext cx="54860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250" spc="-1" strike="noStrike">
                <a:solidFill>
                  <a:srgbClr val="c2683f"/>
                </a:solidFill>
                <a:latin typeface="Courier New"/>
                <a:ea typeface="Courier New"/>
              </a:rPr>
              <a:t>message </a:t>
            </a:r>
            <a:r>
              <a:rPr b="1" lang="en-US" sz="1250" spc="-1" strike="noStrike">
                <a:solidFill>
                  <a:srgbClr val="f4ede3"/>
                </a:solidFill>
                <a:latin typeface="Courier New"/>
                <a:ea typeface="Courier New"/>
              </a:rPr>
              <a:t>SensorData</a:t>
            </a:r>
            <a:r>
              <a:rPr b="0" lang="en-US" sz="1250" spc="-1" strike="noStrike">
                <a:solidFill>
                  <a:srgbClr val="c9bbae"/>
                </a:solidFill>
                <a:latin typeface="Courier New"/>
                <a:ea typeface="Courier New"/>
              </a:rPr>
              <a:t> {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string                    </a:t>
            </a:r>
            <a:r>
              <a:rPr b="0" lang="en-US" sz="1250" spc="-1" strike="noStrike">
                <a:solidFill>
                  <a:srgbClr val="f4ede3"/>
                </a:solidFill>
                <a:latin typeface="Courier New"/>
                <a:ea typeface="Courier New"/>
              </a:rPr>
              <a:t>source_id</a:t>
            </a:r>
            <a:r>
              <a:rPr b="0" lang="en-US" sz="1250" spc="-1" strike="noStrike">
                <a:solidFill>
                  <a:srgbClr val="8a7b6e"/>
                </a:solidFill>
                <a:latin typeface="Courier New"/>
                <a:ea typeface="Courier New"/>
              </a:rPr>
              <a:t> = 1;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SourceType                </a:t>
            </a:r>
            <a:r>
              <a:rPr b="0" lang="en-US" sz="1250" spc="-1" strike="noStrike">
                <a:solidFill>
                  <a:srgbClr val="f4ede3"/>
                </a:solidFill>
                <a:latin typeface="Courier New"/>
                <a:ea typeface="Courier New"/>
              </a:rPr>
              <a:t>type</a:t>
            </a:r>
            <a:r>
              <a:rPr b="0" lang="en-US" sz="1250" spc="-1" strike="noStrike">
                <a:solidFill>
                  <a:srgbClr val="8a7b6e"/>
                </a:solidFill>
                <a:latin typeface="Courier New"/>
                <a:ea typeface="Courier New"/>
              </a:rPr>
              <a:t>      = 2;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google.protobuf.Timestamp </a:t>
            </a:r>
            <a:r>
              <a:rPr b="0" lang="en-US" sz="1250" spc="-1" strike="noStrike">
                <a:solidFill>
                  <a:srgbClr val="f4ede3"/>
                </a:solidFill>
                <a:latin typeface="Courier New"/>
                <a:ea typeface="Courier New"/>
              </a:rPr>
              <a:t>ts</a:t>
            </a:r>
            <a:r>
              <a:rPr b="0" lang="en-US" sz="1250" spc="-1" strike="noStrike">
                <a:solidFill>
                  <a:srgbClr val="8a7b6e"/>
                </a:solidFill>
                <a:latin typeface="Courier New"/>
                <a:ea typeface="Courier New"/>
              </a:rPr>
              <a:t>  = 3;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repeated Reading          </a:t>
            </a:r>
            <a:r>
              <a:rPr b="0" lang="en-US" sz="1250" spc="-1" strike="noStrike">
                <a:solidFill>
                  <a:srgbClr val="f4ede3"/>
                </a:solidFill>
                <a:latin typeface="Courier New"/>
                <a:ea typeface="Courier New"/>
              </a:rPr>
              <a:t>readings</a:t>
            </a:r>
            <a:r>
              <a:rPr b="0" lang="en-US" sz="1250" spc="-1" strike="noStrike">
                <a:solidFill>
                  <a:srgbClr val="8a7b6e"/>
                </a:solidFill>
                <a:latin typeface="Courier New"/>
                <a:ea typeface="Courier New"/>
              </a:rPr>
              <a:t> = 4;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bool                      </a:t>
            </a:r>
            <a:r>
              <a:rPr b="0" lang="en-US" sz="1250" spc="-1" strike="noStrike">
                <a:solidFill>
                  <a:srgbClr val="f4ede3"/>
                </a:solidFill>
                <a:latin typeface="Courier New"/>
                <a:ea typeface="Courier New"/>
              </a:rPr>
              <a:t>alert</a:t>
            </a:r>
            <a:r>
              <a:rPr b="0" lang="en-US" sz="1250" spc="-1" strike="noStrike">
                <a:solidFill>
                  <a:srgbClr val="8a7b6e"/>
                </a:solidFill>
                <a:latin typeface="Courier New"/>
                <a:ea typeface="Courier New"/>
              </a:rPr>
              <a:t>    = 5;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c9bbae"/>
                </a:solidFill>
                <a:latin typeface="Courier New"/>
                <a:ea typeface="Courier New"/>
              </a:rPr>
              <a:t>}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c2683f"/>
                </a:solidFill>
                <a:latin typeface="Courier New"/>
                <a:ea typeface="Courier New"/>
              </a:rPr>
              <a:t>message </a:t>
            </a:r>
            <a:r>
              <a:rPr b="1" lang="en-US" sz="1250" spc="-1" strike="noStrike">
                <a:solidFill>
                  <a:srgbClr val="f4ede3"/>
                </a:solidFill>
                <a:latin typeface="Courier New"/>
                <a:ea typeface="Courier New"/>
              </a:rPr>
              <a:t>UdpEnvelope</a:t>
            </a:r>
            <a:r>
              <a:rPr b="0" lang="en-US" sz="1250" spc="-1" strike="noStrike">
                <a:solidFill>
                  <a:srgbClr val="c9bbae"/>
                </a:solidFill>
                <a:latin typeface="Courier New"/>
                <a:ea typeface="Courier New"/>
              </a:rPr>
              <a:t> {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c2683f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c2683f"/>
                </a:solidFill>
                <a:latin typeface="Courier New"/>
                <a:ea typeface="Courier New"/>
              </a:rPr>
              <a:t>oneof</a:t>
            </a:r>
            <a:r>
              <a:rPr b="0" lang="en-US" sz="1250" spc="-1" strike="noStrike">
                <a:solidFill>
                  <a:srgbClr val="c9bbae"/>
                </a:solidFill>
                <a:latin typeface="Courier New"/>
                <a:ea typeface="Courier New"/>
              </a:rPr>
              <a:t> payload {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    </a:t>
            </a:r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SourceAnnounce </a:t>
            </a:r>
            <a:r>
              <a:rPr b="0" lang="en-US" sz="1250" spc="-1" strike="noStrike">
                <a:solidFill>
                  <a:srgbClr val="f4ede3"/>
                </a:solidFill>
                <a:latin typeface="Courier New"/>
                <a:ea typeface="Courier New"/>
              </a:rPr>
              <a:t>announce</a:t>
            </a:r>
            <a:r>
              <a:rPr b="0" lang="en-US" sz="1250" spc="-1" strike="noStrike">
                <a:solidFill>
                  <a:srgbClr val="8a7b6e"/>
                </a:solidFill>
                <a:latin typeface="Courier New"/>
                <a:ea typeface="Courier New"/>
              </a:rPr>
              <a:t> = 1;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    </a:t>
            </a:r>
            <a:r>
              <a:rPr b="0" lang="en-US" sz="1250" spc="-1" strike="noStrike">
                <a:solidFill>
                  <a:srgbClr val="8fa697"/>
                </a:solidFill>
                <a:latin typeface="Courier New"/>
                <a:ea typeface="Courier New"/>
              </a:rPr>
              <a:t>SensorData     </a:t>
            </a:r>
            <a:r>
              <a:rPr b="0" lang="en-US" sz="1250" spc="-1" strike="noStrike">
                <a:solidFill>
                  <a:srgbClr val="f4ede3"/>
                </a:solidFill>
                <a:latin typeface="Courier New"/>
                <a:ea typeface="Courier New"/>
              </a:rPr>
              <a:t>data</a:t>
            </a:r>
            <a:r>
              <a:rPr b="0" lang="en-US" sz="1250" spc="-1" strike="noStrike">
                <a:solidFill>
                  <a:srgbClr val="8a7b6e"/>
                </a:solidFill>
                <a:latin typeface="Courier New"/>
                <a:ea typeface="Courier New"/>
              </a:rPr>
              <a:t>     = 2;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9bbae"/>
                </a:solidFill>
                <a:latin typeface="Courier New"/>
                <a:ea typeface="Courier New"/>
              </a:rPr>
              <a:t>  </a:t>
            </a:r>
            <a:r>
              <a:rPr b="0" lang="en-US" sz="1250" spc="-1" strike="noStrike">
                <a:solidFill>
                  <a:srgbClr val="c9bbae"/>
                </a:solidFill>
                <a:latin typeface="Courier New"/>
                <a:ea typeface="Courier New"/>
              </a:rPr>
              <a:t>}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c9bbae"/>
                </a:solidFill>
                <a:latin typeface="Courier New"/>
                <a:ea typeface="Courier New"/>
              </a:rPr>
              <a:t>}</a:t>
            </a:r>
            <a:endParaRPr b="0" lang="pt-BR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6858000" y="1691640"/>
            <a:ext cx="4663080" cy="959760"/>
          </a:xfrm>
          <a:prstGeom prst="roundRect">
            <a:avLst>
              <a:gd name="adj" fmla="val 7619"/>
            </a:avLst>
          </a:prstGeom>
          <a:solidFill>
            <a:srgbClr val="2e241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Image 0" descr="preencoded.png"/>
          <p:cNvPicPr/>
          <p:nvPr/>
        </p:nvPicPr>
        <p:blipFill>
          <a:blip r:embed="rId1"/>
          <a:stretch/>
        </p:blipFill>
        <p:spPr>
          <a:xfrm>
            <a:off x="7113960" y="196596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97" name="Text 5"/>
          <p:cNvSpPr/>
          <p:nvPr/>
        </p:nvSpPr>
        <p:spPr>
          <a:xfrm>
            <a:off x="7726680" y="18104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ede3"/>
                </a:solidFill>
                <a:latin typeface="Calibri"/>
                <a:ea typeface="Calibri"/>
              </a:rPr>
              <a:t>DiscoveryRequest / SourceAnnounce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7726680" y="2167200"/>
            <a:ext cx="3702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bbae"/>
                </a:solidFill>
                <a:latin typeface="Calibri"/>
                <a:ea typeface="Calibri"/>
              </a:rPr>
              <a:t>Descoberta: IP, portas, tipo e estado da fonte.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6858000" y="2788920"/>
            <a:ext cx="4663080" cy="959760"/>
          </a:xfrm>
          <a:prstGeom prst="roundRect">
            <a:avLst>
              <a:gd name="adj" fmla="val 7619"/>
            </a:avLst>
          </a:prstGeom>
          <a:solidFill>
            <a:srgbClr val="2e241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Image 1" descr="preencoded.png"/>
          <p:cNvPicPr/>
          <p:nvPr/>
        </p:nvPicPr>
        <p:blipFill>
          <a:blip r:embed="rId2"/>
          <a:stretch/>
        </p:blipFill>
        <p:spPr>
          <a:xfrm>
            <a:off x="7113960" y="30632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01" name="Text 8"/>
          <p:cNvSpPr/>
          <p:nvPr/>
        </p:nvSpPr>
        <p:spPr>
          <a:xfrm>
            <a:off x="7726680" y="29077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ede3"/>
                </a:solidFill>
                <a:latin typeface="Calibri"/>
                <a:ea typeface="Calibri"/>
              </a:rPr>
              <a:t>SensorData + Reading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7726680" y="3264480"/>
            <a:ext cx="3702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bbae"/>
                </a:solidFill>
                <a:latin typeface="Calibri"/>
                <a:ea typeface="Calibri"/>
              </a:rPr>
              <a:t>Leituras (nome/valor/unidade) com timestamp e alerta.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6858000" y="3886200"/>
            <a:ext cx="4663080" cy="959760"/>
          </a:xfrm>
          <a:prstGeom prst="roundRect">
            <a:avLst>
              <a:gd name="adj" fmla="val 7619"/>
            </a:avLst>
          </a:prstGeom>
          <a:solidFill>
            <a:srgbClr val="2e241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Image 2" descr="preencoded.png"/>
          <p:cNvPicPr/>
          <p:nvPr/>
        </p:nvPicPr>
        <p:blipFill>
          <a:blip r:embed="rId3"/>
          <a:stretch/>
        </p:blipFill>
        <p:spPr>
          <a:xfrm>
            <a:off x="7113960" y="416052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05" name="Text 11"/>
          <p:cNvSpPr/>
          <p:nvPr/>
        </p:nvSpPr>
        <p:spPr>
          <a:xfrm>
            <a:off x="7726680" y="40050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ede3"/>
                </a:solidFill>
                <a:latin typeface="Calibri"/>
                <a:ea typeface="Calibri"/>
              </a:rPr>
              <a:t>Command / CommandResult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7726680" y="4361760"/>
            <a:ext cx="3702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bbae"/>
                </a:solidFill>
                <a:latin typeface="Calibri"/>
                <a:ea typeface="Calibri"/>
              </a:rPr>
              <a:t>Controle do Gateway sobre a fonte (TCP).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6858000" y="4983480"/>
            <a:ext cx="4663080" cy="959760"/>
          </a:xfrm>
          <a:prstGeom prst="roundRect">
            <a:avLst>
              <a:gd name="adj" fmla="val 7619"/>
            </a:avLst>
          </a:prstGeom>
          <a:solidFill>
            <a:srgbClr val="2e241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3" descr="preencoded.png"/>
          <p:cNvPicPr/>
          <p:nvPr/>
        </p:nvPicPr>
        <p:blipFill>
          <a:blip r:embed="rId4"/>
          <a:stretch/>
        </p:blipFill>
        <p:spPr>
          <a:xfrm>
            <a:off x="7113960" y="52578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09" name="Text 14"/>
          <p:cNvSpPr/>
          <p:nvPr/>
        </p:nvSpPr>
        <p:spPr>
          <a:xfrm>
            <a:off x="7726680" y="51022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4ede3"/>
                </a:solidFill>
                <a:latin typeface="Calibri"/>
                <a:ea typeface="Calibri"/>
              </a:rPr>
              <a:t>ClientRequest / ClientResponse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7726680" y="5459040"/>
            <a:ext cx="3702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bbae"/>
                </a:solidFill>
                <a:latin typeface="Calibri"/>
                <a:ea typeface="Calibri"/>
              </a:rPr>
              <a:t>Cliente ↔ Gateway: listar, comandar, consultar.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640080" y="457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9e4f2e"/>
                </a:solidFill>
                <a:latin typeface="Calibri"/>
                <a:ea typeface="Calibri"/>
              </a:rPr>
              <a:t>REQUISITO 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640080" y="7131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3a2e26"/>
                </a:solidFill>
                <a:latin typeface="Cambria"/>
                <a:ea typeface="Cambria"/>
              </a:rPr>
              <a:t>Fontes de dados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640080" y="13258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8a7b6e"/>
                </a:solidFill>
                <a:latin typeface="Calibri"/>
                <a:ea typeface="Calibri"/>
              </a:rPr>
              <a:t>Cada fonte é um processo independente. Quatro são controláveis; o sensor de ruído é contínuo.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640080" y="1828800"/>
            <a:ext cx="10881000" cy="749520"/>
          </a:xfrm>
          <a:prstGeom prst="roundRect">
            <a:avLst>
              <a:gd name="adj" fmla="val 8537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868680" y="1974960"/>
            <a:ext cx="456840" cy="456840"/>
          </a:xfrm>
          <a:prstGeom prst="ellipse">
            <a:avLst/>
          </a:prstGeom>
          <a:solidFill>
            <a:srgbClr val="c26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6" name="Image 0" descr="preencoded.png"/>
          <p:cNvPicPr/>
          <p:nvPr/>
        </p:nvPicPr>
        <p:blipFill>
          <a:blip r:embed="rId1"/>
          <a:stretch/>
        </p:blipFill>
        <p:spPr>
          <a:xfrm>
            <a:off x="960120" y="20664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7" name="Text 5"/>
          <p:cNvSpPr/>
          <p:nvPr/>
        </p:nvSpPr>
        <p:spPr>
          <a:xfrm>
            <a:off x="1554480" y="1828800"/>
            <a:ext cx="4205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a2e26"/>
                </a:solidFill>
                <a:latin typeface="Calibri"/>
                <a:ea typeface="Calibri"/>
              </a:rPr>
              <a:t>Estação meteorológica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5760720" y="182880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a7b6e"/>
                </a:solidFill>
                <a:latin typeface="Calibri"/>
                <a:ea typeface="Calibri"/>
              </a:rPr>
              <a:t>temperatura · umidade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9692640" y="2039040"/>
            <a:ext cx="1645560" cy="347040"/>
          </a:xfrm>
          <a:prstGeom prst="roundRect">
            <a:avLst>
              <a:gd name="adj" fmla="val 50000"/>
            </a:avLst>
          </a:prstGeom>
          <a:solidFill>
            <a:srgbClr val="c26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9692640" y="203904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Controlável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640080" y="2697480"/>
            <a:ext cx="10881000" cy="749520"/>
          </a:xfrm>
          <a:prstGeom prst="roundRect">
            <a:avLst>
              <a:gd name="adj" fmla="val 8537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868680" y="2843640"/>
            <a:ext cx="456840" cy="456840"/>
          </a:xfrm>
          <a:prstGeom prst="ellipse">
            <a:avLst/>
          </a:prstGeom>
          <a:solidFill>
            <a:srgbClr val="c26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" name="Image 1" descr="preencoded.png"/>
          <p:cNvPicPr/>
          <p:nvPr/>
        </p:nvPicPr>
        <p:blipFill>
          <a:blip r:embed="rId2"/>
          <a:stretch/>
        </p:blipFill>
        <p:spPr>
          <a:xfrm>
            <a:off x="960120" y="293508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4" name="Text 11"/>
          <p:cNvSpPr/>
          <p:nvPr/>
        </p:nvSpPr>
        <p:spPr>
          <a:xfrm>
            <a:off x="1554480" y="2697480"/>
            <a:ext cx="4205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a2e26"/>
                </a:solidFill>
                <a:latin typeface="Calibri"/>
                <a:ea typeface="Calibri"/>
              </a:rPr>
              <a:t>Qualidade do 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5760720" y="269748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a7b6e"/>
                </a:solidFill>
                <a:latin typeface="Calibri"/>
                <a:ea typeface="Calibri"/>
              </a:rPr>
              <a:t>CO₂ · material particulado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9692640" y="2907720"/>
            <a:ext cx="1645560" cy="347040"/>
          </a:xfrm>
          <a:prstGeom prst="roundRect">
            <a:avLst>
              <a:gd name="adj" fmla="val 50000"/>
            </a:avLst>
          </a:prstGeom>
          <a:solidFill>
            <a:srgbClr val="c26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9692640" y="290772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Controlável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5"/>
          <p:cNvSpPr/>
          <p:nvPr/>
        </p:nvSpPr>
        <p:spPr>
          <a:xfrm>
            <a:off x="640080" y="3566160"/>
            <a:ext cx="10881000" cy="749520"/>
          </a:xfrm>
          <a:prstGeom prst="roundRect">
            <a:avLst>
              <a:gd name="adj" fmla="val 8537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6"/>
          <p:cNvSpPr/>
          <p:nvPr/>
        </p:nvSpPr>
        <p:spPr>
          <a:xfrm>
            <a:off x="868680" y="3712320"/>
            <a:ext cx="456840" cy="456840"/>
          </a:xfrm>
          <a:prstGeom prst="ellipse">
            <a:avLst/>
          </a:prstGeom>
          <a:solidFill>
            <a:srgbClr val="c26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0" name="Image 2" descr="preencoded.png"/>
          <p:cNvPicPr/>
          <p:nvPr/>
        </p:nvPicPr>
        <p:blipFill>
          <a:blip r:embed="rId3"/>
          <a:stretch/>
        </p:blipFill>
        <p:spPr>
          <a:xfrm>
            <a:off x="960120" y="380376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31" name="Text 17"/>
          <p:cNvSpPr/>
          <p:nvPr/>
        </p:nvSpPr>
        <p:spPr>
          <a:xfrm>
            <a:off x="1554480" y="3566160"/>
            <a:ext cx="4205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a2e26"/>
                </a:solidFill>
                <a:latin typeface="Calibri"/>
                <a:ea typeface="Calibri"/>
              </a:rPr>
              <a:t>Contador de tráfego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8"/>
          <p:cNvSpPr/>
          <p:nvPr/>
        </p:nvSpPr>
        <p:spPr>
          <a:xfrm>
            <a:off x="5760720" y="356616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a7b6e"/>
                </a:solidFill>
                <a:latin typeface="Calibri"/>
                <a:ea typeface="Calibri"/>
              </a:rPr>
              <a:t>veículos por minuto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9"/>
          <p:cNvSpPr/>
          <p:nvPr/>
        </p:nvSpPr>
        <p:spPr>
          <a:xfrm>
            <a:off x="9692640" y="3776400"/>
            <a:ext cx="1645560" cy="347040"/>
          </a:xfrm>
          <a:prstGeom prst="roundRect">
            <a:avLst>
              <a:gd name="adj" fmla="val 50000"/>
            </a:avLst>
          </a:prstGeom>
          <a:solidFill>
            <a:srgbClr val="c26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0"/>
          <p:cNvSpPr/>
          <p:nvPr/>
        </p:nvSpPr>
        <p:spPr>
          <a:xfrm>
            <a:off x="9692640" y="377640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Controlável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21"/>
          <p:cNvSpPr/>
          <p:nvPr/>
        </p:nvSpPr>
        <p:spPr>
          <a:xfrm>
            <a:off x="640080" y="4434840"/>
            <a:ext cx="10881000" cy="749520"/>
          </a:xfrm>
          <a:prstGeom prst="roundRect">
            <a:avLst>
              <a:gd name="adj" fmla="val 8537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22"/>
          <p:cNvSpPr/>
          <p:nvPr/>
        </p:nvSpPr>
        <p:spPr>
          <a:xfrm>
            <a:off x="868680" y="4581000"/>
            <a:ext cx="456840" cy="456840"/>
          </a:xfrm>
          <a:prstGeom prst="ellipse">
            <a:avLst/>
          </a:prstGeom>
          <a:solidFill>
            <a:srgbClr val="8fa6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Image 3" descr="preencoded.png"/>
          <p:cNvPicPr/>
          <p:nvPr/>
        </p:nvPicPr>
        <p:blipFill>
          <a:blip r:embed="rId4"/>
          <a:stretch/>
        </p:blipFill>
        <p:spPr>
          <a:xfrm>
            <a:off x="960120" y="46724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38" name="Text 23"/>
          <p:cNvSpPr/>
          <p:nvPr/>
        </p:nvSpPr>
        <p:spPr>
          <a:xfrm>
            <a:off x="1554480" y="4434840"/>
            <a:ext cx="4205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a2e26"/>
                </a:solidFill>
                <a:latin typeface="Calibri"/>
                <a:ea typeface="Calibri"/>
              </a:rPr>
              <a:t>Sensor de ruído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4"/>
          <p:cNvSpPr/>
          <p:nvPr/>
        </p:nvSpPr>
        <p:spPr>
          <a:xfrm>
            <a:off x="5760720" y="443484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a7b6e"/>
                </a:solidFill>
                <a:latin typeface="Calibri"/>
                <a:ea typeface="Calibri"/>
              </a:rPr>
              <a:t>ruído (dB)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5"/>
          <p:cNvSpPr/>
          <p:nvPr/>
        </p:nvSpPr>
        <p:spPr>
          <a:xfrm>
            <a:off x="9692640" y="4645080"/>
            <a:ext cx="1645560" cy="347040"/>
          </a:xfrm>
          <a:prstGeom prst="roundRect">
            <a:avLst>
              <a:gd name="adj" fmla="val 50000"/>
            </a:avLst>
          </a:prstGeom>
          <a:solidFill>
            <a:srgbClr val="8fa6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26"/>
          <p:cNvSpPr/>
          <p:nvPr/>
        </p:nvSpPr>
        <p:spPr>
          <a:xfrm>
            <a:off x="9692640" y="464508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Contínuo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7"/>
          <p:cNvSpPr/>
          <p:nvPr/>
        </p:nvSpPr>
        <p:spPr>
          <a:xfrm>
            <a:off x="640080" y="5303520"/>
            <a:ext cx="10881000" cy="749520"/>
          </a:xfrm>
          <a:prstGeom prst="roundRect">
            <a:avLst>
              <a:gd name="adj" fmla="val 8537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8"/>
          <p:cNvSpPr/>
          <p:nvPr/>
        </p:nvSpPr>
        <p:spPr>
          <a:xfrm>
            <a:off x="868680" y="5449680"/>
            <a:ext cx="456840" cy="456840"/>
          </a:xfrm>
          <a:prstGeom prst="ellipse">
            <a:avLst/>
          </a:prstGeom>
          <a:solidFill>
            <a:srgbClr val="dda1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4" descr="preencoded.png"/>
          <p:cNvPicPr/>
          <p:nvPr/>
        </p:nvPicPr>
        <p:blipFill>
          <a:blip r:embed="rId5"/>
          <a:stretch/>
        </p:blipFill>
        <p:spPr>
          <a:xfrm>
            <a:off x="960120" y="55411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45" name="Text 29"/>
          <p:cNvSpPr/>
          <p:nvPr/>
        </p:nvSpPr>
        <p:spPr>
          <a:xfrm>
            <a:off x="1554480" y="5303520"/>
            <a:ext cx="42058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3a2e26"/>
                </a:solidFill>
                <a:latin typeface="Calibri"/>
                <a:ea typeface="Calibri"/>
              </a:rPr>
              <a:t>Medidor de energia · Node.js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30"/>
          <p:cNvSpPr/>
          <p:nvPr/>
        </p:nvSpPr>
        <p:spPr>
          <a:xfrm>
            <a:off x="5760720" y="5303520"/>
            <a:ext cx="36572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a7b6e"/>
                </a:solidFill>
                <a:latin typeface="Calibri"/>
                <a:ea typeface="Calibri"/>
              </a:rPr>
              <a:t>consumo (kW)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31"/>
          <p:cNvSpPr/>
          <p:nvPr/>
        </p:nvSpPr>
        <p:spPr>
          <a:xfrm>
            <a:off x="9692640" y="5513760"/>
            <a:ext cx="1645560" cy="347040"/>
          </a:xfrm>
          <a:prstGeom prst="roundRect">
            <a:avLst>
              <a:gd name="adj" fmla="val 50000"/>
            </a:avLst>
          </a:prstGeom>
          <a:solidFill>
            <a:srgbClr val="dda1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32"/>
          <p:cNvSpPr/>
          <p:nvPr/>
        </p:nvSpPr>
        <p:spPr>
          <a:xfrm>
            <a:off x="9692640" y="5513760"/>
            <a:ext cx="1645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Controlável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/>
          <p:nvPr/>
        </p:nvSpPr>
        <p:spPr>
          <a:xfrm>
            <a:off x="640080" y="457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9e4f2e"/>
                </a:solidFill>
                <a:latin typeface="Calibri"/>
                <a:ea typeface="Calibri"/>
              </a:rPr>
              <a:t>REQUISITO 3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640080" y="7131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3a2e26"/>
                </a:solidFill>
                <a:latin typeface="Cambria"/>
                <a:ea typeface="Cambria"/>
              </a:rPr>
              <a:t>Cliente analítico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"/>
          <p:cNvSpPr/>
          <p:nvPr/>
        </p:nvSpPr>
        <p:spPr>
          <a:xfrm>
            <a:off x="640080" y="1600200"/>
            <a:ext cx="5211720" cy="4480200"/>
          </a:xfrm>
          <a:prstGeom prst="roundRect">
            <a:avLst>
              <a:gd name="adj" fmla="val 2041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Image 0" descr="preencoded.png"/>
          <p:cNvPicPr/>
          <p:nvPr/>
        </p:nvPicPr>
        <p:blipFill>
          <a:blip r:embed="rId1"/>
          <a:stretch/>
        </p:blipFill>
        <p:spPr>
          <a:xfrm>
            <a:off x="914400" y="18288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53" name="Text 3"/>
          <p:cNvSpPr/>
          <p:nvPr/>
        </p:nvSpPr>
        <p:spPr>
          <a:xfrm>
            <a:off x="1508760" y="182880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3a2e26"/>
                </a:solidFill>
                <a:latin typeface="Cambria"/>
                <a:ea typeface="Cambria"/>
              </a:rPr>
              <a:t>Controle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914400" y="2468880"/>
            <a:ext cx="466308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a2e26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a2e26"/>
                </a:solidFill>
                <a:latin typeface="Calibri"/>
                <a:ea typeface="Calibri"/>
              </a:rPr>
              <a:t>Listar fontes e seus estados operacionais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a2e26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a2e26"/>
                </a:solidFill>
                <a:latin typeface="Calibri"/>
                <a:ea typeface="Calibri"/>
              </a:rPr>
              <a:t>Ativar / desativar uma fonte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a2e26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a2e26"/>
                </a:solidFill>
                <a:latin typeface="Calibri"/>
                <a:ea typeface="Calibri"/>
              </a:rPr>
              <a:t>Alterar a frequência de envio (ex.: 15 → 5 s)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a2e26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a2e26"/>
                </a:solidFill>
                <a:latin typeface="Calibri"/>
                <a:ea typeface="Calibri"/>
              </a:rPr>
              <a:t>Ajustar o limiar de alerta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a2e26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a2e26"/>
                </a:solidFill>
                <a:latin typeface="Calibri"/>
                <a:ea typeface="Calibri"/>
              </a:rPr>
              <a:t>Consultar o estado de uma fonte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a2e26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3a2e26"/>
                </a:solidFill>
                <a:latin typeface="Calibri"/>
                <a:ea typeface="Calibri"/>
              </a:rPr>
              <a:t>Simular falha de um sensor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6035040" y="1600200"/>
            <a:ext cx="5486040" cy="4480200"/>
          </a:xfrm>
          <a:prstGeom prst="roundRect">
            <a:avLst>
              <a:gd name="adj" fmla="val 2041"/>
            </a:avLst>
          </a:prstGeom>
          <a:solidFill>
            <a:srgbClr val="2e241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6" name="Image 1" descr="preencoded.png"/>
          <p:cNvPicPr/>
          <p:nvPr/>
        </p:nvPicPr>
        <p:blipFill>
          <a:blip r:embed="rId2"/>
          <a:stretch/>
        </p:blipFill>
        <p:spPr>
          <a:xfrm>
            <a:off x="6309360" y="18288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57" name="Text 6"/>
          <p:cNvSpPr/>
          <p:nvPr/>
        </p:nvSpPr>
        <p:spPr>
          <a:xfrm>
            <a:off x="6903720" y="182880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4ede3"/>
                </a:solidFill>
                <a:latin typeface="Cambria"/>
                <a:ea typeface="Cambria"/>
              </a:rPr>
              <a:t>Consultas agregadas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6309360" y="2468880"/>
            <a:ext cx="49374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e8dfd4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dfd4"/>
                </a:solidFill>
                <a:latin typeface="Calibri"/>
                <a:ea typeface="Calibri"/>
              </a:rPr>
              <a:t>Média de temperatura na última hora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e8dfd4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dfd4"/>
                </a:solidFill>
                <a:latin typeface="Calibri"/>
                <a:ea typeface="Calibri"/>
              </a:rPr>
              <a:t>Desvio padrão do CO₂ nas últimas 24 h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e8dfd4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dfd4"/>
                </a:solidFill>
                <a:latin typeface="Calibri"/>
                <a:ea typeface="Calibri"/>
              </a:rPr>
              <a:t>Fonte com maior variação nas leituras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e8dfd4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dfd4"/>
                </a:solidFill>
                <a:latin typeface="Calibri"/>
                <a:ea typeface="Calibri"/>
              </a:rPr>
              <a:t>Mínimo, máximo e contagem por métrica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e8dfd4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dfd4"/>
                </a:solidFill>
                <a:latin typeface="Calibri"/>
                <a:ea typeface="Calibri"/>
              </a:rPr>
              <a:t>Histórico de leituras (persistência)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e8dfd4"/>
              </a:buClr>
              <a:buFont typeface="Symbol" charset="2"/>
              <a:buChar char=""/>
            </a:pPr>
            <a:r>
              <a:rPr b="0" lang="en-US" sz="1500" spc="-1" strike="noStrike">
                <a:solidFill>
                  <a:srgbClr val="e8dfd4"/>
                </a:solidFill>
                <a:latin typeface="Calibri"/>
                <a:ea typeface="Calibri"/>
              </a:rPr>
              <a:t>Última leitura de cada fonte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640080" y="457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9e4f2e"/>
                </a:solidFill>
                <a:latin typeface="Calibri"/>
                <a:ea typeface="Calibri"/>
              </a:rPr>
              <a:t>PONTUAÇÃO EXTRA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3a2e26"/>
                </a:solidFill>
                <a:latin typeface="Cambria"/>
                <a:ea typeface="Cambria"/>
              </a:rPr>
              <a:t>Os três itens extras, implementados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640080" y="1737360"/>
            <a:ext cx="3474360" cy="4023000"/>
          </a:xfrm>
          <a:prstGeom prst="roundRect">
            <a:avLst>
              <a:gd name="adj" fmla="val 2632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1920240" y="2103120"/>
            <a:ext cx="914040" cy="914040"/>
          </a:xfrm>
          <a:prstGeom prst="ellipse">
            <a:avLst/>
          </a:prstGeom>
          <a:solidFill>
            <a:srgbClr val="c268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Image 0" descr="preencoded.png"/>
          <p:cNvPicPr/>
          <p:nvPr/>
        </p:nvPicPr>
        <p:blipFill>
          <a:blip r:embed="rId1"/>
          <a:stretch/>
        </p:blipFill>
        <p:spPr>
          <a:xfrm>
            <a:off x="2121480" y="2304360"/>
            <a:ext cx="511560" cy="511560"/>
          </a:xfrm>
          <a:prstGeom prst="rect">
            <a:avLst/>
          </a:prstGeom>
          <a:ln w="0">
            <a:noFill/>
          </a:ln>
        </p:spPr>
      </p:pic>
      <p:sp>
        <p:nvSpPr>
          <p:cNvPr id="164" name="Text 4"/>
          <p:cNvSpPr/>
          <p:nvPr/>
        </p:nvSpPr>
        <p:spPr>
          <a:xfrm>
            <a:off x="914400" y="320040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3a2e26"/>
                </a:solidFill>
                <a:latin typeface="Cambria"/>
                <a:ea typeface="Cambria"/>
              </a:rPr>
              <a:t>Mais de uma linguagem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932760" y="4069080"/>
            <a:ext cx="2889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a2e26"/>
                </a:solidFill>
                <a:latin typeface="Calibri"/>
                <a:ea typeface="Calibri"/>
              </a:rPr>
              <a:t>O medidor de energia é escrito em Node.js (protobufjs) e interopera com o Gateway em Python pelos mesmos arquivos .proto.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6"/>
          <p:cNvSpPr/>
          <p:nvPr/>
        </p:nvSpPr>
        <p:spPr>
          <a:xfrm>
            <a:off x="4389120" y="1737360"/>
            <a:ext cx="3474360" cy="4023000"/>
          </a:xfrm>
          <a:prstGeom prst="roundRect">
            <a:avLst>
              <a:gd name="adj" fmla="val 2632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7"/>
          <p:cNvSpPr/>
          <p:nvPr/>
        </p:nvSpPr>
        <p:spPr>
          <a:xfrm>
            <a:off x="5669280" y="2103120"/>
            <a:ext cx="914040" cy="914040"/>
          </a:xfrm>
          <a:prstGeom prst="ellipse">
            <a:avLst/>
          </a:prstGeom>
          <a:solidFill>
            <a:srgbClr val="8fa69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Image 1" descr="preencoded.png"/>
          <p:cNvPicPr/>
          <p:nvPr/>
        </p:nvPicPr>
        <p:blipFill>
          <a:blip r:embed="rId2"/>
          <a:stretch/>
        </p:blipFill>
        <p:spPr>
          <a:xfrm>
            <a:off x="5870520" y="2304360"/>
            <a:ext cx="511560" cy="511560"/>
          </a:xfrm>
          <a:prstGeom prst="rect">
            <a:avLst/>
          </a:prstGeom>
          <a:ln w="0">
            <a:noFill/>
          </a:ln>
        </p:spPr>
      </p:pic>
      <p:sp>
        <p:nvSpPr>
          <p:cNvPr id="169" name="Text 8"/>
          <p:cNvSpPr/>
          <p:nvPr/>
        </p:nvSpPr>
        <p:spPr>
          <a:xfrm>
            <a:off x="4663440" y="320040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3a2e26"/>
                </a:solidFill>
                <a:latin typeface="Cambria"/>
                <a:ea typeface="Cambria"/>
              </a:rPr>
              <a:t>Persistência + histórico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4681800" y="4069080"/>
            <a:ext cx="2889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a2e26"/>
                </a:solidFill>
                <a:latin typeface="Calibri"/>
                <a:ea typeface="Calibri"/>
              </a:rPr>
              <a:t>O Gateway grava todas as leituras em SQLite; o cliente consulta o histórico e as agregações sobre os dados armazenados.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0"/>
          <p:cNvSpPr/>
          <p:nvPr/>
        </p:nvSpPr>
        <p:spPr>
          <a:xfrm>
            <a:off x="8138160" y="1737360"/>
            <a:ext cx="3474360" cy="4023000"/>
          </a:xfrm>
          <a:prstGeom prst="roundRect">
            <a:avLst>
              <a:gd name="adj" fmla="val 2632"/>
            </a:avLst>
          </a:prstGeom>
          <a:solidFill>
            <a:srgbClr val="fbf7f0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1"/>
          <p:cNvSpPr/>
          <p:nvPr/>
        </p:nvSpPr>
        <p:spPr>
          <a:xfrm>
            <a:off x="9418320" y="2103120"/>
            <a:ext cx="914040" cy="914040"/>
          </a:xfrm>
          <a:prstGeom prst="ellipse">
            <a:avLst/>
          </a:prstGeom>
          <a:solidFill>
            <a:srgbClr val="dda1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Image 2" descr="preencoded.png"/>
          <p:cNvPicPr/>
          <p:nvPr/>
        </p:nvPicPr>
        <p:blipFill>
          <a:blip r:embed="rId3"/>
          <a:stretch/>
        </p:blipFill>
        <p:spPr>
          <a:xfrm>
            <a:off x="9619560" y="2304360"/>
            <a:ext cx="511560" cy="511560"/>
          </a:xfrm>
          <a:prstGeom prst="rect">
            <a:avLst/>
          </a:prstGeom>
          <a:ln w="0">
            <a:noFill/>
          </a:ln>
        </p:spPr>
      </p:pic>
      <p:sp>
        <p:nvSpPr>
          <p:cNvPr id="174" name="Text 12"/>
          <p:cNvSpPr/>
          <p:nvPr/>
        </p:nvSpPr>
        <p:spPr>
          <a:xfrm>
            <a:off x="8412480" y="320040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3a2e26"/>
                </a:solidFill>
                <a:latin typeface="Cambria"/>
                <a:ea typeface="Cambria"/>
              </a:rPr>
              <a:t>Dashboard com séries temporais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3"/>
          <p:cNvSpPr/>
          <p:nvPr/>
        </p:nvSpPr>
        <p:spPr>
          <a:xfrm>
            <a:off x="8430840" y="4069080"/>
            <a:ext cx="2889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a2e26"/>
                </a:solidFill>
                <a:latin typeface="Calibri"/>
                <a:ea typeface="Calibri"/>
              </a:rPr>
              <a:t>Interface web servida pelo Gateway: cards de status em tempo real e gráfico de séries temporais (Chart.js).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-1280160" y="4572000"/>
            <a:ext cx="3840120" cy="3840120"/>
          </a:xfrm>
          <a:prstGeom prst="ellipse">
            <a:avLst/>
          </a:prstGeom>
          <a:solidFill>
            <a:srgbClr val="c2683f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640080" y="4572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99" strike="noStrike">
                <a:solidFill>
                  <a:srgbClr val="dda15e"/>
                </a:solidFill>
                <a:latin typeface="Calibri"/>
                <a:ea typeface="Calibri"/>
              </a:rPr>
              <a:t>TECNOLOGIAS E EXECUÇÃO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640080" y="71316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4ede3"/>
                </a:solidFill>
                <a:latin typeface="Cambria"/>
                <a:ea typeface="Cambria"/>
              </a:rPr>
              <a:t>Stack &amp; como rodar</a:t>
            </a:r>
            <a:endParaRPr b="0" lang="pt-B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640080" y="1645920"/>
            <a:ext cx="6034680" cy="749520"/>
          </a:xfrm>
          <a:prstGeom prst="roundRect">
            <a:avLst>
              <a:gd name="adj" fmla="val 9756"/>
            </a:avLst>
          </a:prstGeom>
          <a:solidFill>
            <a:srgbClr val="2e241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0" name="Image 0" descr="preencoded.png"/>
          <p:cNvPicPr/>
          <p:nvPr/>
        </p:nvPicPr>
        <p:blipFill>
          <a:blip r:embed="rId1"/>
          <a:stretch/>
        </p:blipFill>
        <p:spPr>
          <a:xfrm>
            <a:off x="896040" y="18288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81" name="Text 4"/>
          <p:cNvSpPr/>
          <p:nvPr/>
        </p:nvSpPr>
        <p:spPr>
          <a:xfrm>
            <a:off x="1463040" y="170064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4ede3"/>
                </a:solidFill>
                <a:latin typeface="Calibri"/>
                <a:ea typeface="Calibri"/>
              </a:rPr>
              <a:t>Python 3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3383280" y="1645920"/>
            <a:ext cx="3200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bbae"/>
                </a:solidFill>
                <a:latin typeface="Calibri"/>
                <a:ea typeface="Calibri"/>
              </a:rPr>
              <a:t>Gateway, 4 fontes e cliente; sockets e threading da stdlib.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640080" y="2514600"/>
            <a:ext cx="6034680" cy="749520"/>
          </a:xfrm>
          <a:prstGeom prst="roundRect">
            <a:avLst>
              <a:gd name="adj" fmla="val 9756"/>
            </a:avLst>
          </a:prstGeom>
          <a:solidFill>
            <a:srgbClr val="2e241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4" name="Image 1" descr="preencoded.png"/>
          <p:cNvPicPr/>
          <p:nvPr/>
        </p:nvPicPr>
        <p:blipFill>
          <a:blip r:embed="rId2"/>
          <a:stretch/>
        </p:blipFill>
        <p:spPr>
          <a:xfrm>
            <a:off x="896040" y="269748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85" name="Text 7"/>
          <p:cNvSpPr/>
          <p:nvPr/>
        </p:nvSpPr>
        <p:spPr>
          <a:xfrm>
            <a:off x="1463040" y="256932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4ede3"/>
                </a:solidFill>
                <a:latin typeface="Calibri"/>
                <a:ea typeface="Calibri"/>
              </a:rPr>
              <a:t>Node.js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3383280" y="2514600"/>
            <a:ext cx="3200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bbae"/>
                </a:solidFill>
                <a:latin typeface="Calibri"/>
                <a:ea typeface="Calibri"/>
              </a:rPr>
              <a:t>Fonte do medidor de energia (segunda linguagem).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9"/>
          <p:cNvSpPr/>
          <p:nvPr/>
        </p:nvSpPr>
        <p:spPr>
          <a:xfrm>
            <a:off x="640080" y="3383280"/>
            <a:ext cx="6034680" cy="749520"/>
          </a:xfrm>
          <a:prstGeom prst="roundRect">
            <a:avLst>
              <a:gd name="adj" fmla="val 9756"/>
            </a:avLst>
          </a:prstGeom>
          <a:solidFill>
            <a:srgbClr val="2e241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8" name="Image 2" descr="preencoded.png"/>
          <p:cNvPicPr/>
          <p:nvPr/>
        </p:nvPicPr>
        <p:blipFill>
          <a:blip r:embed="rId3"/>
          <a:stretch/>
        </p:blipFill>
        <p:spPr>
          <a:xfrm>
            <a:off x="896040" y="35661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89" name="Text 10"/>
          <p:cNvSpPr/>
          <p:nvPr/>
        </p:nvSpPr>
        <p:spPr>
          <a:xfrm>
            <a:off x="1463040" y="343800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4ede3"/>
                </a:solidFill>
                <a:latin typeface="Calibri"/>
                <a:ea typeface="Calibri"/>
              </a:rPr>
              <a:t>Protocol Buffers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3383280" y="3383280"/>
            <a:ext cx="3200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bbae"/>
                </a:solidFill>
                <a:latin typeface="Calibri"/>
                <a:ea typeface="Calibri"/>
              </a:rPr>
              <a:t>protobuf (Python) e protobufjs (Node) sobre o mesmo .proto.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2"/>
          <p:cNvSpPr/>
          <p:nvPr/>
        </p:nvSpPr>
        <p:spPr>
          <a:xfrm>
            <a:off x="640080" y="4251960"/>
            <a:ext cx="6034680" cy="749520"/>
          </a:xfrm>
          <a:prstGeom prst="roundRect">
            <a:avLst>
              <a:gd name="adj" fmla="val 9756"/>
            </a:avLst>
          </a:prstGeom>
          <a:solidFill>
            <a:srgbClr val="2e241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2" name="Image 3" descr="preencoded.png"/>
          <p:cNvPicPr/>
          <p:nvPr/>
        </p:nvPicPr>
        <p:blipFill>
          <a:blip r:embed="rId4"/>
          <a:stretch/>
        </p:blipFill>
        <p:spPr>
          <a:xfrm>
            <a:off x="896040" y="44348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93" name="Text 13"/>
          <p:cNvSpPr/>
          <p:nvPr/>
        </p:nvSpPr>
        <p:spPr>
          <a:xfrm>
            <a:off x="1463040" y="430668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4ede3"/>
                </a:solidFill>
                <a:latin typeface="Calibri"/>
                <a:ea typeface="Calibri"/>
              </a:rPr>
              <a:t>SQLite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4"/>
          <p:cNvSpPr/>
          <p:nvPr/>
        </p:nvSpPr>
        <p:spPr>
          <a:xfrm>
            <a:off x="3383280" y="4251960"/>
            <a:ext cx="3200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bbae"/>
                </a:solidFill>
                <a:latin typeface="Calibri"/>
                <a:ea typeface="Calibri"/>
              </a:rPr>
              <a:t>Persistência das leituras e consultas de histórico.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15"/>
          <p:cNvSpPr/>
          <p:nvPr/>
        </p:nvSpPr>
        <p:spPr>
          <a:xfrm>
            <a:off x="640080" y="5120640"/>
            <a:ext cx="6034680" cy="749520"/>
          </a:xfrm>
          <a:prstGeom prst="roundRect">
            <a:avLst>
              <a:gd name="adj" fmla="val 9756"/>
            </a:avLst>
          </a:prstGeom>
          <a:solidFill>
            <a:srgbClr val="2e241d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6" name="Image 4" descr="preencoded.png"/>
          <p:cNvPicPr/>
          <p:nvPr/>
        </p:nvPicPr>
        <p:blipFill>
          <a:blip r:embed="rId5"/>
          <a:stretch/>
        </p:blipFill>
        <p:spPr>
          <a:xfrm>
            <a:off x="896040" y="53035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97" name="Text 16"/>
          <p:cNvSpPr/>
          <p:nvPr/>
        </p:nvSpPr>
        <p:spPr>
          <a:xfrm>
            <a:off x="1463040" y="517536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4ede3"/>
                </a:solidFill>
                <a:latin typeface="Calibri"/>
                <a:ea typeface="Calibri"/>
              </a:rPr>
              <a:t>Chart.js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17"/>
          <p:cNvSpPr/>
          <p:nvPr/>
        </p:nvSpPr>
        <p:spPr>
          <a:xfrm>
            <a:off x="3383280" y="5120640"/>
            <a:ext cx="32000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bbae"/>
                </a:solidFill>
                <a:latin typeface="Calibri"/>
                <a:ea typeface="Calibri"/>
              </a:rPr>
              <a:t>Dashboard web de séries temporais.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18"/>
          <p:cNvSpPr/>
          <p:nvPr/>
        </p:nvSpPr>
        <p:spPr>
          <a:xfrm>
            <a:off x="6949440" y="1645920"/>
            <a:ext cx="4571640" cy="4160160"/>
          </a:xfrm>
          <a:prstGeom prst="roundRect">
            <a:avLst>
              <a:gd name="adj" fmla="val 1758"/>
            </a:avLst>
          </a:prstGeom>
          <a:solidFill>
            <a:srgbClr val="17120f"/>
          </a:solidFill>
          <a:ln w="12700">
            <a:solidFill>
              <a:srgbClr val="9e4f2e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9"/>
          <p:cNvSpPr/>
          <p:nvPr/>
        </p:nvSpPr>
        <p:spPr>
          <a:xfrm>
            <a:off x="7223760" y="18288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dda15e"/>
                </a:solidFill>
                <a:latin typeface="Calibri"/>
                <a:ea typeface="Calibri"/>
              </a:rPr>
              <a:t>Execução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0"/>
          <p:cNvSpPr/>
          <p:nvPr/>
        </p:nvSpPr>
        <p:spPr>
          <a:xfrm>
            <a:off x="7223760" y="2240280"/>
            <a:ext cx="411444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150" spc="-1" strike="noStrike">
                <a:solidFill>
                  <a:srgbClr val="8a7b6e"/>
                </a:solidFill>
                <a:latin typeface="Courier New"/>
                <a:ea typeface="Courier New"/>
              </a:rPr>
              <a:t># 1) gateway (+ dashboard)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4ede3"/>
                </a:solidFill>
                <a:latin typeface="Courier New"/>
                <a:ea typeface="Courier New"/>
              </a:rPr>
              <a:t>python gateway.py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8a7b6e"/>
                </a:solidFill>
                <a:latin typeface="Courier New"/>
                <a:ea typeface="Courier New"/>
              </a:rPr>
              <a:t># 2) fontes (terminais)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8fa697"/>
                </a:solidFill>
                <a:latin typeface="Courier New"/>
                <a:ea typeface="Courier New"/>
              </a:rPr>
              <a:t>python sources/weather_station.py wx-1 15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8fa697"/>
                </a:solidFill>
                <a:latin typeface="Courier New"/>
                <a:ea typeface="Courier New"/>
              </a:rPr>
              <a:t>node energy_meter.js energy-1 10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8a7b6e"/>
                </a:solidFill>
                <a:latin typeface="Courier New"/>
                <a:ea typeface="Courier New"/>
              </a:rPr>
              <a:t># 3) cliente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f4ede3"/>
                </a:solidFill>
                <a:latin typeface="Courier New"/>
                <a:ea typeface="Courier New"/>
              </a:rPr>
              <a:t>python client.py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en-US" sz="1150" spc="-1" strike="noStrike">
                <a:solidFill>
                  <a:srgbClr val="8a7b6e"/>
                </a:solidFill>
                <a:latin typeface="Courier New"/>
                <a:ea typeface="Courier New"/>
              </a:rPr>
              <a:t># dashboard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da15e"/>
                </a:solidFill>
                <a:latin typeface="Courier New"/>
                <a:ea typeface="Courier New"/>
              </a:rPr>
              <a:t>http://localhost:8080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21"/>
          <p:cNvSpPr/>
          <p:nvPr/>
        </p:nvSpPr>
        <p:spPr>
          <a:xfrm>
            <a:off x="640080" y="626364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a7b6e"/>
                </a:solidFill>
                <a:latin typeface="Calibri"/>
                <a:ea typeface="Calibri"/>
              </a:rPr>
              <a:t>Cidade Inteligente · Trabalho 1 — Sockets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2026-06-09T00:45:09Z</dcterms:created>
  <dc:creator>Trabalho 1 - Sockets</dc:creator>
  <dc:description/>
  <dc:language>pt-BR</dc:language>
  <cp:lastModifiedBy/>
  <dcterms:modified xsi:type="dcterms:W3CDTF">2026-06-09T10:26:55Z</dcterms:modified>
  <cp:revision>2</cp:revision>
  <dc:subject>PptxGenJS Presentation</dc:subject>
  <dc:title>Cidade Inteligente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